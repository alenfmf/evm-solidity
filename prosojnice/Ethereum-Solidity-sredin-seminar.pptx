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13"/>
    <p:sldId id="280" r:id="rId14"/>
    <p:sldId id="281" r:id="rId15"/>
    <p:sldId id="268" r:id="rId16"/>
    <p:sldId id="269" r:id="rId17"/>
    <p:sldId id="283" r:id="rId18"/>
    <p:sldId id="284" r:id="rId19"/>
    <p:sldId id="285" r:id="rId20"/>
    <p:sldId id="286" r:id="rId21"/>
    <p:sldId id="289" r:id="rId22"/>
    <p:sldId id="290" r:id="rId23"/>
    <p:sldId id="291" r:id="rId24"/>
    <p:sldId id="287" r:id="rId25"/>
    <p:sldId id="288" r:id="rId26"/>
    <p:sldId id="282" r:id="rId27"/>
    <p:sldId id="292" r:id="rId28"/>
    <p:sldId id="278" r:id="rId29"/>
  </p:sldIdLst>
  <p:sldSz cx="12192000" cy="6858000"/>
  <p:notesSz cx="6858000" cy="9144000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banić, Alen" initials="OA" lastIdx="1" clrIdx="0">
    <p:extLst>
      <p:ext uri="{19B8F6BF-5375-455C-9EA6-DF929625EA0E}">
        <p15:presenceInfo xmlns:p15="http://schemas.microsoft.com/office/powerpoint/2012/main" userId="S::alen.orbanic@fmf.uni-lj.si::0b8ae18b-38c2-4098-aa7c-98b677faf10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20"/>
  </p:normalViewPr>
  <p:slideViewPr>
    <p:cSldViewPr snapToGrid="0" snapToObjects="1">
      <p:cViewPr varScale="1">
        <p:scale>
          <a:sx n="110" d="100"/>
          <a:sy n="110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09T06:23:43.129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4798-1563-0845-BD05-C6ABFA18F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D82D0-7719-E149-A797-BC3B1A646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6D663-9864-4B48-AA70-FA9E9C43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3091-8EB2-0749-8CCA-8C8136E8722D}" type="datetimeFigureOut">
              <a:rPr lang="en-SI" smtClean="0"/>
              <a:t>10/06/2021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C5268-564E-AD4A-9E1C-D0CB9713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BDF8-FC79-FE48-83BE-899A855F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8795F-4925-8340-ADAB-DA61B14A95B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968498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69E8-7D22-1645-A70B-66F529521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2A167-CC11-D04A-904A-AA4CAF964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D223C-4E8E-2345-BD62-BEC0C24E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3091-8EB2-0749-8CCA-8C8136E8722D}" type="datetimeFigureOut">
              <a:rPr lang="en-SI" smtClean="0"/>
              <a:t>10/06/2021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52D32-D244-B849-8E1E-1DA258FC8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C99F0-5971-634E-940A-B483E56A8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8795F-4925-8340-ADAB-DA61B14A95B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41039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85DF4-63EF-9745-8E78-ECDAACCEC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B3E45-C609-1946-BA82-B11087231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950C3-E06B-F148-82E9-953C66AAE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3091-8EB2-0749-8CCA-8C8136E8722D}" type="datetimeFigureOut">
              <a:rPr lang="en-SI" smtClean="0"/>
              <a:t>10/06/2021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1A9F1-C14F-D84E-9499-0D877676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639F0-FD3A-104B-91D2-8D127284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8795F-4925-8340-ADAB-DA61B14A95B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24862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26B94-C622-AB4D-9EC1-4A10313E2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09D15-E991-1640-8881-23B5656A15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3595F-6083-D543-B422-A6C908B41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80142-6BCE-FF42-9192-0DB917E6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3091-8EB2-0749-8CCA-8C8136E8722D}" type="datetimeFigureOut">
              <a:rPr lang="en-SI" smtClean="0"/>
              <a:t>10/06/2021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273F7-331B-314E-BE4F-BE3EFBD08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CE4F-A57A-E048-ADCA-6924104C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8795F-4925-8340-ADAB-DA61B14A95B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60163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D0787-BFD6-BC41-B70C-CDC4A6C97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519F7-A15D-7F43-9BDE-460F47024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17989-A34A-6E4F-8417-12D0BA532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CFBE4-02E6-5F4B-B5BC-7DA0B366A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53EB9A-86AD-6447-9740-89A87CFD9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27C74B-C178-8A40-8A7D-8270FD37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3091-8EB2-0749-8CCA-8C8136E8722D}" type="datetimeFigureOut">
              <a:rPr lang="en-SI" smtClean="0"/>
              <a:t>10/06/2021</a:t>
            </a:fld>
            <a:endParaRPr lang="en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B90854-95EA-E64C-B535-118CBA20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94452D-F1C2-2240-AB3B-FB4C22A22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8795F-4925-8340-ADAB-DA61B14A95B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931767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64D38-ABC7-274D-966A-807B022FE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95C7C-9569-254F-84A2-76E41C0B9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3091-8EB2-0749-8CCA-8C8136E8722D}" type="datetimeFigureOut">
              <a:rPr lang="en-SI" smtClean="0"/>
              <a:t>10/06/2021</a:t>
            </a:fld>
            <a:endParaRPr lang="en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3A8C9-A1C0-0F40-9CB0-491BF66F4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D2CFF-EAFB-C841-9572-7BDAA100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8795F-4925-8340-ADAB-DA61B14A95B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50703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60CC8C-C79E-5B48-A85A-FF0E80EB2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3091-8EB2-0749-8CCA-8C8136E8722D}" type="datetimeFigureOut">
              <a:rPr lang="en-SI" smtClean="0"/>
              <a:t>10/06/2021</a:t>
            </a:fld>
            <a:endParaRPr lang="en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08369-48E0-9144-82DB-A74CCA7A0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FFFEF-4169-CB4B-8F4E-9F952C15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8795F-4925-8340-ADAB-DA61B14A95B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769515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BC80-ACC0-7341-BFBB-E6DEFCE54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B1024-5C62-6649-BA52-93BD1C675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9C6F5-B2FC-7942-B064-46ECB1344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060E9-BC2E-4A49-8E63-811953B7C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3091-8EB2-0749-8CCA-8C8136E8722D}" type="datetimeFigureOut">
              <a:rPr lang="en-SI" smtClean="0"/>
              <a:t>10/06/2021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5FD40-D795-B04E-9CC6-D2975DE8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C5998-3BFD-EB4E-911C-52C1059BA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8795F-4925-8340-ADAB-DA61B14A95B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740380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104F1-DC0F-3F42-85F0-475D10D6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8FE14D-D79C-F640-8E3E-F738AF199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BB1FB-00A8-D24B-9E7F-38F13FD92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03337-9761-444B-834D-691B6BA3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3091-8EB2-0749-8CCA-8C8136E8722D}" type="datetimeFigureOut">
              <a:rPr lang="en-SI" smtClean="0"/>
              <a:t>10/06/2021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31A70-1982-1D46-9433-603FA0FB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9232C-A5EA-124E-B721-F7480025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8795F-4925-8340-ADAB-DA61B14A95B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616100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1DE7-1879-1F43-8EA4-245FCD91F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4042D-0B7B-3A4A-B153-49603E148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682F2-4D90-A84E-B5AC-F145ACF9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3091-8EB2-0749-8CCA-8C8136E8722D}" type="datetimeFigureOut">
              <a:rPr lang="en-SI" smtClean="0"/>
              <a:t>10/06/2021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E7C67-8828-DA4E-A67C-850D11F4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E4C26-8A95-6C4B-8915-A28BECF8F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8795F-4925-8340-ADAB-DA61B14A95B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88457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5F8C9C-2C54-EB41-9375-20C163B80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647-ACAF-EB40-B973-E89DAA03D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4EB37-34AE-E649-9C75-E0D9F0B1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3091-8EB2-0749-8CCA-8C8136E8722D}" type="datetimeFigureOut">
              <a:rPr lang="en-SI" smtClean="0"/>
              <a:t>10/06/2021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57EE1-96C6-7B4D-8800-8A107818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54570-F6DD-C541-B661-629A8350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8795F-4925-8340-ADAB-DA61B14A95B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19002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7B0B43-4744-5D42-8F22-439DA539E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E0B93-BF8B-6B45-8B1D-F4E7410E6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3204E-9E7A-A74A-B78A-412B38E18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F3091-8EB2-0749-8CCA-8C8136E8722D}" type="datetimeFigureOut">
              <a:rPr lang="en-SI" smtClean="0"/>
              <a:t>10/06/2021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EDD8F-E2B6-EA48-8371-0B611B98D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56AE6-9549-524A-A53F-912D06435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8795F-4925-8340-ADAB-DA61B14A95B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429089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B91C5-362C-FE4C-B214-286A65149D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DeFi</a:t>
            </a:r>
            <a:r>
              <a:rPr lang="en-GB" dirty="0"/>
              <a:t>, </a:t>
            </a:r>
            <a:r>
              <a:rPr lang="en-GB" dirty="0" err="1"/>
              <a:t>pametne</a:t>
            </a:r>
            <a:r>
              <a:rPr lang="en-GB" dirty="0"/>
              <a:t> </a:t>
            </a:r>
            <a:r>
              <a:rPr lang="en-GB" dirty="0" err="1"/>
              <a:t>pogodbe</a:t>
            </a:r>
            <a:r>
              <a:rPr lang="en-GB" dirty="0"/>
              <a:t>, EVM in </a:t>
            </a:r>
            <a:r>
              <a:rPr lang="en-GB" dirty="0" err="1"/>
              <a:t>programski</a:t>
            </a:r>
            <a:r>
              <a:rPr lang="en-GB" dirty="0"/>
              <a:t> </a:t>
            </a:r>
            <a:r>
              <a:rPr lang="en-GB" dirty="0" err="1"/>
              <a:t>jezik</a:t>
            </a:r>
            <a:r>
              <a:rPr lang="en-GB" dirty="0"/>
              <a:t> Solidity</a:t>
            </a:r>
            <a:endParaRPr lang="en-S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4AB59-ED2C-CD4A-9823-4B1318BA02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I" dirty="0"/>
              <a:t>Alen Orbanić, UL FMF</a:t>
            </a:r>
          </a:p>
          <a:p>
            <a:r>
              <a:rPr lang="en-SI" dirty="0"/>
              <a:t>Sredin seminar, 9.6.2021</a:t>
            </a:r>
          </a:p>
        </p:txBody>
      </p:sp>
    </p:spTree>
    <p:extLst>
      <p:ext uri="{BB962C8B-B14F-4D97-AF65-F5344CB8AC3E}">
        <p14:creationId xmlns:p14="http://schemas.microsoft.com/office/powerpoint/2010/main" val="2833122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4440-2FF0-5343-A5FC-C58D04FA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Zadnji kripto balon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A5E45-CE4D-C249-88F5-AF4CD653D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Tržna vrednost kriptovalut (vir: https://coinmarketcap.com/charts)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0E5FB-9747-E242-8926-909754B95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826042"/>
            <a:ext cx="10322058" cy="25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55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DDC2-DABD-B64E-B719-6BFECCD6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Ethereum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7FFDA-DBFB-E348-BBE3-F801D84E6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Bitcoin (2009) – prva kriptovaluta, "digitalno zlato", zelo enostavne "pametne pogodbe" (multisig, payment channel, ...)</a:t>
            </a:r>
          </a:p>
          <a:p>
            <a:r>
              <a:rPr lang="en-SI" dirty="0"/>
              <a:t>Ethereum (2015) – prva bločna veriga s pametnimi pogodbami, ki jih lahko programiramo v programskem jeziku (EVM, Solidity, ...)</a:t>
            </a:r>
          </a:p>
          <a:p>
            <a:r>
              <a:rPr lang="en-SI" dirty="0"/>
              <a:t>ETH (Ether) – sistemska kriptovaluta</a:t>
            </a:r>
          </a:p>
          <a:p>
            <a:r>
              <a:rPr lang="en-SI" dirty="0"/>
              <a:t>Gonilo ICO-jev v prejšnjem ciklu, 2017 (programske kriptovalute)</a:t>
            </a:r>
          </a:p>
          <a:p>
            <a:r>
              <a:rPr lang="en-SI" dirty="0"/>
              <a:t>Gonilo DeFi v tem ciklu (programske menjalnice, oraklji, ustvarjalci trgov, posojila, zavarovanja, ...)</a:t>
            </a:r>
          </a:p>
          <a:p>
            <a:r>
              <a:rPr lang="en-SI" dirty="0"/>
              <a:t>Konkurenca na horizontu: Tezos, Avalanche, Binance Smart Chain, Cardano, Flare, ...</a:t>
            </a:r>
          </a:p>
          <a:p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402676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E680-22AF-634A-9D1B-73C75BCB0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Kako deluje Ethereum?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7CF7A-8BBE-8A4C-B7C2-B307809FD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1163" cy="4351338"/>
          </a:xfrm>
        </p:spPr>
        <p:txBody>
          <a:bodyPr/>
          <a:lstStyle/>
          <a:p>
            <a:r>
              <a:rPr lang="en-SI" dirty="0"/>
              <a:t>Bločna veriga: </a:t>
            </a:r>
            <a:r>
              <a:rPr lang="en-SI" b="1" dirty="0"/>
              <a:t>deljena podatkovna baza</a:t>
            </a:r>
            <a:r>
              <a:rPr lang="en-SI" dirty="0"/>
              <a:t>, vodi trenutne evidence tako stanj </a:t>
            </a:r>
            <a:r>
              <a:rPr lang="en-SI" b="1" dirty="0"/>
              <a:t>sistemskih ETH računov</a:t>
            </a:r>
            <a:r>
              <a:rPr lang="en-SI" dirty="0"/>
              <a:t>, kot stanj pametnih pogodb (stanja ERC20 žetonov na naslovih, zaklenjena sredstva in stanja uporabnikov v DeFi aplikacijah, ...)</a:t>
            </a:r>
          </a:p>
          <a:p>
            <a:r>
              <a:rPr lang="en-SI" dirty="0"/>
              <a:t>zapisi </a:t>
            </a:r>
            <a:r>
              <a:rPr lang="en-SI" b="1" dirty="0"/>
              <a:t>sprememb</a:t>
            </a:r>
            <a:r>
              <a:rPr lang="en-SI" dirty="0"/>
              <a:t> (transakcij) v kriptografsko "zapečenih blokih", nov blok vsakih ~15s, ocenjena max. prepustnost (15-45) Tx/s.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F1033-A6CA-0A4E-A3C5-BBE7EFB6F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363" y="1989933"/>
            <a:ext cx="5453881" cy="37957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BE040B-AA75-874C-9614-90AEE4B377DA}"/>
              </a:ext>
            </a:extLst>
          </p:cNvPr>
          <p:cNvSpPr txBox="1"/>
          <p:nvPr/>
        </p:nvSpPr>
        <p:spPr>
          <a:xfrm>
            <a:off x="8158162" y="6110288"/>
            <a:ext cx="2414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I" dirty="0"/>
              <a:t>vir: https://etherscat.io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7286D-AAAE-4F44-9784-B568DBED94E4}"/>
              </a:ext>
            </a:extLst>
          </p:cNvPr>
          <p:cNvSpPr txBox="1"/>
          <p:nvPr/>
        </p:nvSpPr>
        <p:spPr>
          <a:xfrm>
            <a:off x="7265194" y="1573491"/>
            <a:ext cx="4200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I" dirty="0"/>
              <a:t>Dnevno število transakcij na ETH omrežju</a:t>
            </a:r>
          </a:p>
        </p:txBody>
      </p:sp>
    </p:spTree>
    <p:extLst>
      <p:ext uri="{BB962C8B-B14F-4D97-AF65-F5344CB8AC3E}">
        <p14:creationId xmlns:p14="http://schemas.microsoft.com/office/powerpoint/2010/main" val="110573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62E20-63A5-4047-A62F-D1416EAF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Kako deluje Ethereum?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24F9F-E766-B44C-A8AC-F9E3847CB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1 ETH = 2 x 10</a:t>
            </a:r>
            <a:r>
              <a:rPr lang="en-SI" baseline="30000" dirty="0"/>
              <a:t>18</a:t>
            </a:r>
            <a:r>
              <a:rPr lang="en-SI" dirty="0"/>
              <a:t> wei</a:t>
            </a:r>
          </a:p>
          <a:p>
            <a:r>
              <a:rPr lang="en-SI" b="1" dirty="0"/>
              <a:t>Vsako vozlišče hrani kopijo celotne podatkovne baze </a:t>
            </a:r>
            <a:r>
              <a:rPr lang="en-SI" dirty="0"/>
              <a:t>(zadnje stanje vrednosti in bločna veriga sprememb)</a:t>
            </a:r>
          </a:p>
          <a:p>
            <a:r>
              <a:rPr lang="en-SI" dirty="0"/>
              <a:t>Iz baze lahko beremo ali vanjo pišemo (transakcija)</a:t>
            </a:r>
          </a:p>
          <a:p>
            <a:r>
              <a:rPr lang="en-SI" b="1" dirty="0"/>
              <a:t>pisanje (transakcije)</a:t>
            </a:r>
            <a:r>
              <a:rPr lang="en-SI" dirty="0"/>
              <a:t>: pošiljanje sistemskih nakazil (ETH) oz. sporočil, direktni zapisi preko pametnih pogodb </a:t>
            </a:r>
          </a:p>
          <a:p>
            <a:r>
              <a:rPr lang="en-SI" b="1" dirty="0"/>
              <a:t>branje</a:t>
            </a:r>
            <a:r>
              <a:rPr lang="en-SI" dirty="0"/>
              <a:t>: bodisi direktno iz baze na vozlišču (npr. etherscan) bodisi preko pametnih pogodb (programske funkcije, ki vrnejo rezultat)  </a:t>
            </a:r>
          </a:p>
          <a:p>
            <a:r>
              <a:rPr lang="en-SI" dirty="0"/>
              <a:t>Transakcije se</a:t>
            </a:r>
            <a:r>
              <a:rPr lang="en-SI" b="1" dirty="0"/>
              <a:t> obračunajo.</a:t>
            </a:r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14214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64A92-5597-8249-B695-3E3A2E1BC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EVM, gas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F7A94-732A-5644-ACDE-CC7F3F7AD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Ethereum Virtual Machine = </a:t>
            </a:r>
            <a:r>
              <a:rPr lang="en-SI" b="1" dirty="0"/>
              <a:t>računalniški simulator na vozliščih</a:t>
            </a:r>
            <a:r>
              <a:rPr lang="en-SI" dirty="0"/>
              <a:t>, ki izvaja elementarne operacije</a:t>
            </a:r>
          </a:p>
          <a:p>
            <a:r>
              <a:rPr lang="en-SI" b="1" dirty="0"/>
              <a:t>Izvaja strojno kodo </a:t>
            </a:r>
            <a:r>
              <a:rPr lang="en-SI" dirty="0"/>
              <a:t>za pametne pogodbe, ki je podobna strojni kodi navadnih računalnikov</a:t>
            </a:r>
          </a:p>
          <a:p>
            <a:r>
              <a:rPr lang="en-SI" dirty="0"/>
              <a:t>Beseda: 256-bitno število</a:t>
            </a:r>
          </a:p>
          <a:p>
            <a:r>
              <a:rPr lang="en-SI" dirty="0"/>
              <a:t>Vsaka operacija nekaj stane. Obračunska enota: gas</a:t>
            </a:r>
          </a:p>
          <a:p>
            <a:r>
              <a:rPr lang="en-SI" dirty="0"/>
              <a:t>Primeri elementarnih operacij: </a:t>
            </a:r>
          </a:p>
          <a:p>
            <a:pPr lvl="1"/>
            <a:r>
              <a:rPr lang="en-SI" dirty="0"/>
              <a:t>ADD – seštej dve števili (3 gas)</a:t>
            </a:r>
          </a:p>
          <a:p>
            <a:pPr lvl="1"/>
            <a:r>
              <a:rPr lang="en-SI" dirty="0"/>
              <a:t>SLOAD – preberi število iz baze v EVM (800 gas)</a:t>
            </a:r>
          </a:p>
          <a:p>
            <a:pPr lvl="1"/>
            <a:r>
              <a:rPr lang="en-SI" dirty="0"/>
              <a:t>SSTORE – shrani število iz EVM v bazo (20000 gas)</a:t>
            </a:r>
          </a:p>
          <a:p>
            <a:pPr marL="0" indent="0">
              <a:buNone/>
            </a:pPr>
            <a:endParaRPr lang="en-SI" dirty="0"/>
          </a:p>
          <a:p>
            <a:endParaRPr lang="en-S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B31A3-08F6-8547-9C99-69F1075B1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150" y="4466214"/>
            <a:ext cx="7435850" cy="2391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B5B52C-34EB-1840-850F-2838D7EFA1B6}"/>
              </a:ext>
            </a:extLst>
          </p:cNvPr>
          <p:cNvSpPr txBox="1"/>
          <p:nvPr/>
        </p:nvSpPr>
        <p:spPr>
          <a:xfrm>
            <a:off x="9086850" y="4096882"/>
            <a:ext cx="2820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I" b="1" dirty="0"/>
              <a:t>Cena enote gas v Gwei-jih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8A056-719E-BD47-9002-9C427181470B}"/>
              </a:ext>
            </a:extLst>
          </p:cNvPr>
          <p:cNvSpPr txBox="1"/>
          <p:nvPr/>
        </p:nvSpPr>
        <p:spPr>
          <a:xfrm>
            <a:off x="2341562" y="6488668"/>
            <a:ext cx="2414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I" dirty="0"/>
              <a:t>vir: https://ycharts.com</a:t>
            </a:r>
          </a:p>
        </p:txBody>
      </p:sp>
    </p:spTree>
    <p:extLst>
      <p:ext uri="{BB962C8B-B14F-4D97-AF65-F5344CB8AC3E}">
        <p14:creationId xmlns:p14="http://schemas.microsoft.com/office/powerpoint/2010/main" val="1084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154E-6B83-8142-80FA-F1F90DC2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EVM, Solidity, pametne pogodbe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8F1BC-B3F9-AA49-86F9-BF248B51B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Solidity: uveljavljen </a:t>
            </a:r>
            <a:r>
              <a:rPr lang="en-SI" b="1" dirty="0"/>
              <a:t>višjenivojski programski jezik</a:t>
            </a:r>
            <a:r>
              <a:rPr lang="en-SI" dirty="0"/>
              <a:t> za pisanje pametnih pogodb</a:t>
            </a:r>
          </a:p>
          <a:p>
            <a:r>
              <a:rPr lang="en-SI" b="1" dirty="0"/>
              <a:t>Prevede</a:t>
            </a:r>
            <a:r>
              <a:rPr lang="en-SI" dirty="0"/>
              <a:t> se v elementarne ukaze za EVM</a:t>
            </a:r>
          </a:p>
          <a:p>
            <a:r>
              <a:rPr lang="en-SI" dirty="0"/>
              <a:t>Podoben Javascriptu, tipiziran, razvita podporna okolja</a:t>
            </a:r>
          </a:p>
          <a:p>
            <a:r>
              <a:rPr lang="en-SI" b="1" dirty="0"/>
              <a:t>Pametne pogodbe</a:t>
            </a:r>
            <a:r>
              <a:rPr lang="en-SI" dirty="0"/>
              <a:t>: skupine (razredi) funkcij in podatkov združenih v funkcionalno celoto</a:t>
            </a:r>
          </a:p>
          <a:p>
            <a:r>
              <a:rPr lang="en-SI" dirty="0"/>
              <a:t>Ostajajo še alternative, npr. Viper</a:t>
            </a:r>
          </a:p>
          <a:p>
            <a:r>
              <a:rPr lang="en-SI" dirty="0"/>
              <a:t>Ostali uveljavljeni programski jeziki nimajo dovolj specifičnih konstruktov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C31B9-1344-DA4F-85BD-840C5E00B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304" y="1437323"/>
            <a:ext cx="6735292" cy="483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97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C95E4-AC4A-3D4A-A0AD-AD65BBA1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Algoritmi za doseganje konsenza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63E2A-9C24-3A40-A650-116EF3C12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Klasični</a:t>
            </a:r>
          </a:p>
          <a:p>
            <a:pPr lvl="1"/>
            <a:r>
              <a:rPr lang="en-SI" dirty="0"/>
              <a:t>O(</a:t>
            </a:r>
            <a:r>
              <a:rPr lang="en-SI" i="1" dirty="0"/>
              <a:t>n</a:t>
            </a:r>
            <a:r>
              <a:rPr lang="en-SI" i="1" baseline="30000" dirty="0"/>
              <a:t>2</a:t>
            </a:r>
            <a:r>
              <a:rPr lang="en-SI" dirty="0"/>
              <a:t>) komuniciranja, hitra 100% finalnost, a ni skalabilna, relativno visoka propustnost (tps), znana vozlišča (ang. private), pravice (and. permissioned). Primeri uporabe: Hyperledger</a:t>
            </a:r>
          </a:p>
          <a:p>
            <a:r>
              <a:rPr lang="en-SI" dirty="0"/>
              <a:t>Nakamoto</a:t>
            </a:r>
          </a:p>
          <a:p>
            <a:pPr lvl="1"/>
            <a:r>
              <a:rPr lang="en-SI" dirty="0"/>
              <a:t>Skalabilni, velika latenca, probabilistična finalnost, malo transakcij na sekundo, pri PoW je velika poraba energije, kdor koli se lahko vključi, robustni, z izbranim voditeljem (preko PoW ali PoS). Primeri uporabe: večina kriptovalut</a:t>
            </a:r>
          </a:p>
          <a:p>
            <a:r>
              <a:rPr lang="en-SI" dirty="0"/>
              <a:t>Avalanche</a:t>
            </a:r>
          </a:p>
          <a:p>
            <a:pPr lvl="1"/>
            <a:r>
              <a:rPr lang="en-SI" dirty="0"/>
              <a:t>O(n) komuniciranja, hitra skalabilna finalnost (~2s), visoka propustnost (1000-10000tps), skalabilnost (10k-10m vozlišč), epidemiološki model, brezvoditeljski. Primeri uporabe: AVAX, Flare</a:t>
            </a:r>
          </a:p>
          <a:p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370287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2EC2-960B-7246-BE00-9BA49ACE9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PoW, PoS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89919-6647-5648-B5B5-E94D3BEF2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b="1" dirty="0"/>
              <a:t>Napad Sybil</a:t>
            </a:r>
            <a:r>
              <a:rPr lang="en-SI" dirty="0"/>
              <a:t>: vplivanje na odločitev večine vozlišč (validatorjev), kar omogoča napadalcu pomemben vpliv na omrežje (npr. prepričevanje, da vozlišča goljufajo)</a:t>
            </a:r>
          </a:p>
          <a:p>
            <a:r>
              <a:rPr lang="en-SI" dirty="0"/>
              <a:t>Rabimo mehanizem za </a:t>
            </a:r>
            <a:r>
              <a:rPr lang="en-SI" b="1" dirty="0"/>
              <a:t>preprečevanje enostavne pridobitve takega vpliva</a:t>
            </a:r>
            <a:endParaRPr lang="en-SI" dirty="0"/>
          </a:p>
          <a:p>
            <a:r>
              <a:rPr lang="en-SI" b="1" dirty="0"/>
              <a:t>PoW (proof-of-work)</a:t>
            </a:r>
            <a:r>
              <a:rPr lang="en-SI" dirty="0"/>
              <a:t>: napadalec bi moral pridobiti vsaj 50%+ računske moči omrežja</a:t>
            </a:r>
          </a:p>
          <a:p>
            <a:r>
              <a:rPr lang="en-SI" b="1" dirty="0"/>
              <a:t>PoS (proof-of-stake)</a:t>
            </a:r>
            <a:r>
              <a:rPr lang="en-SI" dirty="0"/>
              <a:t>: vozlišča založijo neko vrednost in če sodelujejo pri goljufanju in se to dokaže, se jih kaznuje (50%+ sredstev za napad). </a:t>
            </a:r>
          </a:p>
          <a:p>
            <a:r>
              <a:rPr lang="en-SI" dirty="0"/>
              <a:t>Obstajajo tudi </a:t>
            </a:r>
            <a:r>
              <a:rPr lang="en-SI" b="1" dirty="0"/>
              <a:t>drugačni mehanizmi </a:t>
            </a:r>
            <a:r>
              <a:rPr lang="en-SI" dirty="0"/>
              <a:t>(Federated Byzantine Agreement: Stellar, Flare)</a:t>
            </a:r>
          </a:p>
        </p:txBody>
      </p:sp>
    </p:spTree>
    <p:extLst>
      <p:ext uri="{BB962C8B-B14F-4D97-AF65-F5344CB8AC3E}">
        <p14:creationId xmlns:p14="http://schemas.microsoft.com/office/powerpoint/2010/main" val="382849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4A7DE-D238-6A4E-9C1E-C4A96108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Problemi Ethereuma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2A6FD-7EFC-7D47-8FF6-AA75A6542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Tilema: </a:t>
            </a:r>
            <a:r>
              <a:rPr lang="en-SI" b="1" dirty="0"/>
              <a:t>varnost</a:t>
            </a:r>
            <a:r>
              <a:rPr lang="en-SI" dirty="0"/>
              <a:t>, </a:t>
            </a:r>
            <a:r>
              <a:rPr lang="en-SI" b="1" dirty="0"/>
              <a:t>decentralizacija</a:t>
            </a:r>
            <a:r>
              <a:rPr lang="en-SI" dirty="0"/>
              <a:t> (kdo lahko sodeluje kot validator?), </a:t>
            </a:r>
            <a:r>
              <a:rPr lang="en-SI" b="1" dirty="0"/>
              <a:t>skalabilnost</a:t>
            </a:r>
            <a:r>
              <a:rPr lang="en-SI" dirty="0"/>
              <a:t> (več Txs)</a:t>
            </a:r>
          </a:p>
          <a:p>
            <a:r>
              <a:rPr lang="en-SI" b="1" dirty="0"/>
              <a:t>PoW počasen</a:t>
            </a:r>
            <a:r>
              <a:rPr lang="en-SI" dirty="0"/>
              <a:t>, zahteva velike računske kapacitete in posledično stroške, bariera za vstop novim validatorjem, vpliv na okolje </a:t>
            </a:r>
          </a:p>
          <a:p>
            <a:pPr lvl="1"/>
            <a:r>
              <a:rPr lang="en-SI" dirty="0"/>
              <a:t>Postopen prehod na PoS (večja varnost?, nižje cene gasa, nižja cena za validatorje)</a:t>
            </a:r>
          </a:p>
          <a:p>
            <a:r>
              <a:rPr lang="en-SI" dirty="0"/>
              <a:t>Vse je shranjeno v </a:t>
            </a:r>
            <a:r>
              <a:rPr lang="en-SI" b="1" dirty="0"/>
              <a:t>skupni podatkovni bazi</a:t>
            </a:r>
            <a:r>
              <a:rPr lang="en-SI" dirty="0"/>
              <a:t>, ki jo morajo hraniti in voditi vsa vozlišča v celoti</a:t>
            </a:r>
          </a:p>
          <a:p>
            <a:pPr lvl="1"/>
            <a:r>
              <a:rPr lang="en-SI" dirty="0"/>
              <a:t>Delitev na več deljenih podbaz (ang. shards)</a:t>
            </a:r>
          </a:p>
          <a:p>
            <a:pPr marL="0" indent="0">
              <a:buNone/>
            </a:pPr>
            <a:endParaRPr lang="en-SI" dirty="0"/>
          </a:p>
          <a:p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418469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5CCD-189F-8342-86C6-BC93C2DD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Plan nadgradnje Ethereuma (2.0)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AC088-C411-224E-B15D-3310A6B9C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b="1" dirty="0"/>
              <a:t>Faza 0: Glavna veriga</a:t>
            </a:r>
            <a:r>
              <a:rPr lang="en-SI" dirty="0"/>
              <a:t> (ang. beacon chain), PoS. Ostoječa PoW veriga ostaja operabilna, ETH-ji se selijo v "staking" na glavno verigo, 2020</a:t>
            </a:r>
          </a:p>
          <a:p>
            <a:r>
              <a:rPr lang="en-SI" b="1" dirty="0"/>
              <a:t>Faza 1-2: Podverige </a:t>
            </a:r>
            <a:r>
              <a:rPr lang="en-SI" dirty="0"/>
              <a:t>(ang. sharding) uvede se 64 podverig, ki jih upravlja glavna veriga, predviden začetek enkrat v 2021</a:t>
            </a:r>
          </a:p>
          <a:p>
            <a:r>
              <a:rPr lang="en-SI" b="1" dirty="0"/>
              <a:t>Faza 1.5:</a:t>
            </a:r>
            <a:r>
              <a:rPr lang="en-SI" dirty="0"/>
              <a:t> Prehod Ethereum 1.0 na glavno verigo (ang. docking). Predvideno v 2022</a:t>
            </a:r>
          </a:p>
          <a:p>
            <a:endParaRPr lang="en-SI" dirty="0"/>
          </a:p>
          <a:p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168567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4CAE-310D-F144-8E79-D15214474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DeFi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10630-3861-804C-9B44-FE6275131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Decentralizirane finance</a:t>
            </a:r>
          </a:p>
          <a:p>
            <a:r>
              <a:rPr lang="en-SI" dirty="0"/>
              <a:t>Skupno ime za finančne aplikacije narejene s pametnimi pogodbami</a:t>
            </a:r>
          </a:p>
          <a:p>
            <a:r>
              <a:rPr lang="en-SI" dirty="0"/>
              <a:t>Imenovane tudi "protokoli"</a:t>
            </a:r>
          </a:p>
          <a:p>
            <a:r>
              <a:rPr lang="en-SI" dirty="0"/>
              <a:t>Primeri: decentralizirane menjalnice, peer-to-peer posojila, yield farming, vezave, zastave, </a:t>
            </a:r>
          </a:p>
          <a:p>
            <a:r>
              <a:rPr lang="en-SI" dirty="0"/>
              <a:t>Različni pristopi za incentivizacijo</a:t>
            </a:r>
          </a:p>
          <a:p>
            <a:r>
              <a:rPr lang="en-SI" dirty="0"/>
              <a:t>NFT (non-fungible tokens)</a:t>
            </a:r>
          </a:p>
        </p:txBody>
      </p:sp>
    </p:spTree>
    <p:extLst>
      <p:ext uri="{BB962C8B-B14F-4D97-AF65-F5344CB8AC3E}">
        <p14:creationId xmlns:p14="http://schemas.microsoft.com/office/powerpoint/2010/main" val="364166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D9AD6-C168-E043-B190-4FC9C4175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Uniswap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C4D8D-8876-A14B-875C-DE2AFA346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Decentraliziran protokol za trgovanje</a:t>
            </a:r>
          </a:p>
          <a:p>
            <a:r>
              <a:rPr lang="en-SI" dirty="0"/>
              <a:t>Nabor pametnih pogodb na Ethereumu</a:t>
            </a:r>
          </a:p>
          <a:p>
            <a:r>
              <a:rPr lang="en-SI" dirty="0"/>
              <a:t>Enostaven vmesnik za menjavo kriptovalut na Ethereumu</a:t>
            </a:r>
          </a:p>
          <a:p>
            <a:r>
              <a:rPr lang="en-SI" dirty="0"/>
              <a:t>Začetek v 2018, potem dolgo časa tiho. </a:t>
            </a:r>
          </a:p>
          <a:p>
            <a:r>
              <a:rPr lang="en-SI" dirty="0"/>
              <a:t>Poleti 2020 izdal svojo valuto in jo razdelil med testne uporabnike (airdrop)</a:t>
            </a:r>
          </a:p>
          <a:p>
            <a:r>
              <a:rPr lang="en-SI" dirty="0"/>
              <a:t>Takrat skupaj s podobnimi aplikacijami (Yearn Finance, Sushiswap, ...) povzročil mini balon na Ethereumu in strmoglavo rast izdanih valut</a:t>
            </a:r>
          </a:p>
          <a:p>
            <a:r>
              <a:rPr lang="en-SI" dirty="0"/>
              <a:t>V par mesecih dosegel promet največjih (obstoječih, centraliziranih) kripto borz </a:t>
            </a:r>
          </a:p>
        </p:txBody>
      </p:sp>
    </p:spTree>
    <p:extLst>
      <p:ext uri="{BB962C8B-B14F-4D97-AF65-F5344CB8AC3E}">
        <p14:creationId xmlns:p14="http://schemas.microsoft.com/office/powerpoint/2010/main" val="115519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2AA7-F3DF-624D-8A98-FA54F9CE3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Velika bitka platform s pametnimi pogodbami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03303-1AA8-1A4E-A414-8906515B1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486"/>
            <a:ext cx="10515600" cy="4351338"/>
          </a:xfrm>
        </p:spPr>
        <p:txBody>
          <a:bodyPr/>
          <a:lstStyle/>
          <a:p>
            <a:r>
              <a:rPr lang="en-SI" dirty="0"/>
              <a:t>Ethereum, prvi na trgu, težave s skalabilnostjo in ceno transakcij</a:t>
            </a:r>
          </a:p>
          <a:p>
            <a:r>
              <a:rPr lang="en-SI" dirty="0"/>
              <a:t>Cardano: bolj znanstven pristop, svoj programski jezik, pametne pogodbe naj bi ponudili poleti</a:t>
            </a:r>
          </a:p>
          <a:p>
            <a:r>
              <a:rPr lang="en-SI" dirty="0"/>
              <a:t>Polkadot: še ena alternativa ethereumu, drug programski jezik</a:t>
            </a:r>
          </a:p>
          <a:p>
            <a:r>
              <a:rPr lang="en-SI" dirty="0"/>
              <a:t>Binance Smart Chain: vzeli Ethereum, ga optimizirali, semi-centralizirali okoli menjalnice Binance, EVM, hitra ras in vzpodbude</a:t>
            </a:r>
          </a:p>
          <a:p>
            <a:r>
              <a:rPr lang="en-SI" dirty="0"/>
              <a:t>Tezos: prvo resnejše omrežje s PoS, že dobro leto, poseben programski jezik, kljub temu ni tako odmevno glede DeFi projektov</a:t>
            </a:r>
          </a:p>
          <a:p>
            <a:r>
              <a:rPr lang="en-SI" dirty="0"/>
              <a:t>Avalanche: hitrejši protokol za konsenz, PoS, EVM, cenejši, bolj skalabilen, veliko klonov DeFi aplikacij na njem</a:t>
            </a:r>
          </a:p>
        </p:txBody>
      </p:sp>
    </p:spTree>
    <p:extLst>
      <p:ext uri="{BB962C8B-B14F-4D97-AF65-F5344CB8AC3E}">
        <p14:creationId xmlns:p14="http://schemas.microsoft.com/office/powerpoint/2010/main" val="303695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8801-1ABF-F74C-BE87-F58CD0FC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Alternative za skalabilnost – L2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4D8D0-5FDC-F742-8679-723851826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Ethereum vzpodbuja ekosistem raznih </a:t>
            </a:r>
            <a:r>
              <a:rPr lang="en-SI" b="1" dirty="0"/>
              <a:t>alternativnih ponudnikov </a:t>
            </a:r>
            <a:r>
              <a:rPr lang="en-SI" dirty="0"/>
              <a:t>bločno-verižnih rešitev (</a:t>
            </a:r>
            <a:r>
              <a:rPr lang="en-SI" b="1" dirty="0"/>
              <a:t>Layer 2</a:t>
            </a:r>
            <a:r>
              <a:rPr lang="en-SI" dirty="0"/>
              <a:t>), ki so pripete na glavno infrastrukturo (</a:t>
            </a:r>
            <a:r>
              <a:rPr lang="en-SI" b="1" dirty="0"/>
              <a:t>Layer 1</a:t>
            </a:r>
            <a:r>
              <a:rPr lang="en-SI" dirty="0"/>
              <a:t>)</a:t>
            </a:r>
          </a:p>
          <a:p>
            <a:r>
              <a:rPr lang="en-SI" dirty="0"/>
              <a:t>Tipično manjše alternativne podverige, morda podpirajo manj funkcionalnosti kot Ethereum (npr. samo plačila)</a:t>
            </a:r>
          </a:p>
          <a:p>
            <a:r>
              <a:rPr lang="en-SI" dirty="0"/>
              <a:t>Z različnimi inovativnimi pristopi se naslanjajo na glavno verigo kot vir varnosti</a:t>
            </a:r>
          </a:p>
          <a:p>
            <a:r>
              <a:rPr lang="en-SI" dirty="0"/>
              <a:t>Problemi: </a:t>
            </a:r>
          </a:p>
          <a:p>
            <a:pPr lvl="1"/>
            <a:r>
              <a:rPr lang="en-SI" dirty="0"/>
              <a:t>zelo raznoliki pristopi z različnimi omejitvami</a:t>
            </a:r>
          </a:p>
          <a:p>
            <a:pPr lvl="1"/>
            <a:r>
              <a:rPr lang="en-SI" dirty="0"/>
              <a:t>kanibalizacija kot pri ICO – vsaka nova rešitev uvede svojo kriptovaluto, ki je podobno kot ERC20 žetoni posredno vezana na Ethereum</a:t>
            </a:r>
          </a:p>
        </p:txBody>
      </p:sp>
    </p:spTree>
    <p:extLst>
      <p:ext uri="{BB962C8B-B14F-4D97-AF65-F5344CB8AC3E}">
        <p14:creationId xmlns:p14="http://schemas.microsoft.com/office/powerpoint/2010/main" val="145164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17E5-98E1-934B-AAE4-A4733DD20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Pristopi na L2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C8A77-8537-3B4B-9801-56D7F14C3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Princip: s pametno pogodbo zaklenemo informacije/vrednosti (stanja ipd) na L1 in izvajamo operacije na L2, kjer je to ceneje/hitreje. Potem "odklenemo" procesirane informacije na L1</a:t>
            </a:r>
          </a:p>
          <a:p>
            <a:r>
              <a:rPr lang="en-SI" b="1" dirty="0"/>
              <a:t>Rollup</a:t>
            </a:r>
            <a:r>
              <a:rPr lang="en-SI" dirty="0"/>
              <a:t>: transakcije na drugi verigi, povzetki na L2, za koordinacijo poskrbi pametna pogodba na L1</a:t>
            </a:r>
          </a:p>
          <a:p>
            <a:r>
              <a:rPr lang="en-SI" b="1" dirty="0"/>
              <a:t>Ločene verige</a:t>
            </a:r>
            <a:r>
              <a:rPr lang="en-SI" dirty="0"/>
              <a:t> (sidechains) z mostovi (bridge)</a:t>
            </a:r>
            <a:endParaRPr lang="en-SI" b="1" dirty="0"/>
          </a:p>
          <a:p>
            <a:r>
              <a:rPr lang="en-SI" b="1" dirty="0"/>
              <a:t>Kanal</a:t>
            </a:r>
            <a:r>
              <a:rPr lang="en-SI" dirty="0"/>
              <a:t>: razni protokoli izven bločnih verig, katerih varnost se zagotavlja z multisig zaklepanji/pogodbami na bločnih verigah (Raiden, ...).</a:t>
            </a:r>
          </a:p>
          <a:p>
            <a:r>
              <a:rPr lang="en-SI" dirty="0"/>
              <a:t>Plasma (OMG), Validium, ...</a:t>
            </a:r>
          </a:p>
          <a:p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237196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DAC2-11A8-924E-96EC-4E40A0A97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Osnove bločnih verig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8E807-E4AC-494A-859B-744C97B9F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bločna veriga = globalna </a:t>
            </a:r>
            <a:r>
              <a:rPr lang="en-SI" b="1" dirty="0"/>
              <a:t>porazdeljena transakcijska podatkovna baza</a:t>
            </a:r>
          </a:p>
          <a:p>
            <a:r>
              <a:rPr lang="en-SI" dirty="0"/>
              <a:t>tipa </a:t>
            </a:r>
            <a:r>
              <a:rPr lang="en-SI" b="1" dirty="0"/>
              <a:t>ključ-vrednost</a:t>
            </a:r>
            <a:r>
              <a:rPr lang="en-SI" dirty="0"/>
              <a:t> </a:t>
            </a:r>
          </a:p>
          <a:p>
            <a:r>
              <a:rPr lang="en-SI" dirty="0"/>
              <a:t>vse spremembe gredo preko </a:t>
            </a:r>
            <a:r>
              <a:rPr lang="en-SI" b="1" dirty="0"/>
              <a:t>transakcij</a:t>
            </a:r>
          </a:p>
          <a:p>
            <a:r>
              <a:rPr lang="en-SI" dirty="0"/>
              <a:t>ACID – atomarnost, konsistentnost, izolacija, trajnost</a:t>
            </a:r>
          </a:p>
          <a:p>
            <a:r>
              <a:rPr lang="en-SI" dirty="0"/>
              <a:t>transakcije so vedno digitalno podpisane s strani uporabnikov (računov) – vedno se ve, kdo plačuje gas</a:t>
            </a:r>
          </a:p>
          <a:p>
            <a:r>
              <a:rPr lang="en-SI" dirty="0"/>
              <a:t>transakcije lahko izvedejo kodo (EVM) in rezultat kode je predlog sprememb ključev in njihovih vrednosti v bazi</a:t>
            </a:r>
          </a:p>
          <a:p>
            <a:r>
              <a:rPr lang="en-SI" dirty="0"/>
              <a:t>algoritem za konsenz uredi "transakcije" in pripravi vrstni red za potrditev</a:t>
            </a:r>
          </a:p>
        </p:txBody>
      </p:sp>
    </p:spTree>
    <p:extLst>
      <p:ext uri="{BB962C8B-B14F-4D97-AF65-F5344CB8AC3E}">
        <p14:creationId xmlns:p14="http://schemas.microsoft.com/office/powerpoint/2010/main" val="362515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4490-C8A8-7541-83CA-2803481B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Osnove bločnih verig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B24D0-05C3-5443-8A97-F2F43CEB0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Paketi urejenih potrditev transakcij so </a:t>
            </a:r>
            <a:r>
              <a:rPr lang="en-SI" b="1" dirty="0"/>
              <a:t>bloki</a:t>
            </a:r>
            <a:endParaRPr lang="en-SI" dirty="0"/>
          </a:p>
          <a:p>
            <a:r>
              <a:rPr lang="en-SI" dirty="0"/>
              <a:t>Bloki se hranijo v kriptografsko potrjenem zaporedju = bločna veriga = zgodovina potrjenih transakcij</a:t>
            </a:r>
          </a:p>
          <a:p>
            <a:r>
              <a:rPr lang="en-SI" dirty="0"/>
              <a:t>Uporabnik = račun = privatni ključ iz katerega se generira javni ključ in iz njega naslov (številka računa)</a:t>
            </a:r>
          </a:p>
          <a:p>
            <a:r>
              <a:rPr lang="en-SI" dirty="0"/>
              <a:t>Npr. privatni ključ: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0xac0974bec39a17e36ba4a6b4d238ff944bacb478cbed5efcae784d7bf4f2ff80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SI" dirty="0"/>
              <a:t>Številka računa: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0xf39fd6e51aad88f6f4ce6ab8827279cfffb92266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SI" dirty="0"/>
          </a:p>
          <a:p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226935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2A4F-C72A-344F-87BC-D13AC0936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Računi v EVM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65C8E-F498-3746-82C7-AE7B696F1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Zunanji - privatni ključ, uporabniški, naslov se izračuna iz ključa</a:t>
            </a:r>
          </a:p>
          <a:p>
            <a:r>
              <a:rPr lang="en-SI" dirty="0"/>
              <a:t>Notranji - brez privatnega ključa, na njih so pogodbe, naslov se izračuna v času nastanka pametne pogodbe in uporabnikovega računa ter "nonce"</a:t>
            </a:r>
          </a:p>
          <a:p>
            <a:r>
              <a:rPr lang="en-SI" dirty="0"/>
              <a:t>nonce računa = trenutno število poslanih transakcij</a:t>
            </a:r>
          </a:p>
          <a:p>
            <a:r>
              <a:rPr lang="en-SI" dirty="0"/>
              <a:t>Vsak račun ima svojo podbazi ključ-vrednost (</a:t>
            </a:r>
            <a:r>
              <a:rPr lang="en-SI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uint256 =&gt; uint256</a:t>
            </a:r>
            <a:r>
              <a:rPr lang="en-SI" dirty="0"/>
              <a:t>)</a:t>
            </a:r>
          </a:p>
          <a:p>
            <a:r>
              <a:rPr lang="en-SI" dirty="0"/>
              <a:t>Vsak račun ima svoje imetje sistemske valute (balance)</a:t>
            </a:r>
          </a:p>
          <a:p>
            <a:r>
              <a:rPr lang="en-SI" dirty="0"/>
              <a:t>Notranji (pogodbeni) računi imajo še pogodbeno (byte) kodo</a:t>
            </a:r>
          </a:p>
        </p:txBody>
      </p:sp>
    </p:spTree>
    <p:extLst>
      <p:ext uri="{BB962C8B-B14F-4D97-AF65-F5344CB8AC3E}">
        <p14:creationId xmlns:p14="http://schemas.microsoft.com/office/powerpoint/2010/main" val="93520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22AF-F304-174C-95C0-6AAC5DC0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Transakcije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E7B88-06A5-3248-B918-99F4CA6A9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I" dirty="0"/>
              <a:t>Paket informacij, ki ga ga lahko pošljemo v omrežje in vsebuje:</a:t>
            </a:r>
          </a:p>
          <a:p>
            <a:r>
              <a:rPr lang="en-SI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SI" sz="2400" dirty="0"/>
              <a:t> - račun pošiljatelja</a:t>
            </a:r>
          </a:p>
          <a:p>
            <a:r>
              <a:rPr lang="en-SI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n-SI" sz="2400" dirty="0"/>
              <a:t> - račun prejemnika </a:t>
            </a:r>
          </a:p>
          <a:p>
            <a:r>
              <a:rPr lang="en-SI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nonce</a:t>
            </a:r>
            <a:r>
              <a:rPr lang="en-SI" sz="2400" dirty="0"/>
              <a:t> – zaporedna številka transakcije na računu</a:t>
            </a:r>
          </a:p>
          <a:p>
            <a:r>
              <a:rPr lang="en-SI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SI" sz="2400" dirty="0"/>
              <a:t> - podatke (payload)</a:t>
            </a:r>
          </a:p>
          <a:p>
            <a:r>
              <a:rPr lang="en-SI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SI" sz="2400" dirty="0"/>
              <a:t> - vrednost (koliko se nakaže na račun prejemnika)</a:t>
            </a:r>
          </a:p>
          <a:p>
            <a:r>
              <a:rPr lang="en-SI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gas</a:t>
            </a:r>
            <a:r>
              <a:rPr lang="en-SI" sz="2400" dirty="0"/>
              <a:t> - količino gas-a, ki je na voljo</a:t>
            </a:r>
          </a:p>
          <a:p>
            <a:r>
              <a:rPr lang="en-SI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gasPrice</a:t>
            </a:r>
            <a:r>
              <a:rPr lang="en-SI" sz="2400" dirty="0"/>
              <a:t> - cena za enoto gasa, ki smo jo pripravljeni plačati</a:t>
            </a:r>
          </a:p>
          <a:p>
            <a:r>
              <a:rPr lang="en-SI" sz="2400" dirty="0"/>
              <a:t>še nekateri dodatni opcijski podatki, predvsem o konfiguraciji verigi</a:t>
            </a:r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406038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0394-A35C-A14E-94A5-420CE386A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Transakcije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D058E-3C85-6249-9545-6C4BCE5ED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sz="2400" dirty="0"/>
              <a:t>Transakcijo digitalno podpišemo s privatnim ključem</a:t>
            </a:r>
          </a:p>
          <a:p>
            <a:r>
              <a:rPr lang="en-SI" sz="2400" dirty="0"/>
              <a:t>S tem je potrjen pošiljatelj (plačnik)</a:t>
            </a:r>
          </a:p>
          <a:p>
            <a:r>
              <a:rPr lang="en-SI" sz="2400" dirty="0"/>
              <a:t>Transakcijo pošljemo v omrežje preko enega vozlišča (HTTP(S) RPC klic)</a:t>
            </a:r>
          </a:p>
          <a:p>
            <a:r>
              <a:rPr lang="en-SI" sz="2400" dirty="0"/>
              <a:t>Glede na skupno ponujeno vrednost (</a:t>
            </a:r>
            <a:r>
              <a:rPr lang="en-SI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gas * gasPrice</a:t>
            </a:r>
            <a:r>
              <a:rPr lang="en-SI" sz="2400" dirty="0"/>
              <a:t>) vozlišča izbirajo pakete transakcij in sestavljajo potencialne bloke</a:t>
            </a:r>
          </a:p>
          <a:p>
            <a:r>
              <a:rPr lang="en-SI" sz="2400" dirty="0"/>
              <a:t>Ni zagotovila, da bo transakcija obravnavana in potrjena</a:t>
            </a:r>
          </a:p>
          <a:p>
            <a:r>
              <a:rPr lang="en-SI" sz="2400" dirty="0"/>
              <a:t>Če je transakcija obravnavana, je lahko potrjena ali zavrnjena. </a:t>
            </a:r>
          </a:p>
          <a:p>
            <a:r>
              <a:rPr lang="en-SI" sz="2400" dirty="0"/>
              <a:t>V obeh primerih se obračuna dejanska raba gas-a, ter </a:t>
            </a:r>
            <a:r>
              <a:rPr lang="en-SI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gasUsed * gasPrice </a:t>
            </a:r>
            <a:r>
              <a:rPr lang="en-SI" sz="2400" dirty="0"/>
              <a:t>se odšteje od uporabnikovega imetja sistemske kriptovalute</a:t>
            </a:r>
          </a:p>
          <a:p>
            <a:r>
              <a:rPr lang="en-SI" sz="2400" dirty="0"/>
              <a:t>Pridobimo lahko potrdilo o izvedeni transakciji, zgostitev (hash) transakcije je njen identifikator</a:t>
            </a:r>
          </a:p>
          <a:p>
            <a:endParaRPr lang="en-SI" dirty="0"/>
          </a:p>
          <a:p>
            <a:endParaRPr lang="en-SI" dirty="0"/>
          </a:p>
          <a:p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202123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716D-A2EE-7C4A-9FD8-26AFA8C9A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Transakcije - primer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0E9E0-F4D2-9744-920D-EA2D04DD1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 err="1">
                <a:cs typeface="Courier New" panose="02070309020205020404" pitchFamily="49" charset="0"/>
              </a:rPr>
              <a:t>Pošlji</a:t>
            </a:r>
            <a:r>
              <a:rPr lang="en-GB" sz="2000" dirty="0">
                <a:cs typeface="Courier New" panose="02070309020205020404" pitchFamily="49" charset="0"/>
              </a:rPr>
              <a:t> 1 ETH</a:t>
            </a: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457200" lvl="1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"from": "0xde0B295669a9FD93d5F28D9Ec85E40f4cb697BAe', </a:t>
            </a:r>
          </a:p>
          <a:p>
            <a:pPr marL="457200" lvl="1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"to": "0x11f4d0A3c12e86B4b5F39B213F7E19D048276DAe', </a:t>
            </a:r>
          </a:p>
          <a:p>
            <a:pPr marL="457200" lvl="1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"value": "1000000000000000000" 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SI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702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D800-34BB-624C-BB46-6F95ABC1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Potrdilo o transakciji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D2AC9-CC77-9240-9202-A47E333FA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4572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"status": true, </a:t>
            </a:r>
          </a:p>
          <a:p>
            <a:pPr marL="4572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"from": "0xde0B295669a9FD93d5F28D9Ec85E40f4cb697BAe", </a:t>
            </a:r>
          </a:p>
          <a:p>
            <a:pPr marL="4572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"to": "0x11f4d0A3c12e86B4b5F39B213F7E19D048276DAe", </a:t>
            </a:r>
          </a:p>
          <a:p>
            <a:pPr marL="4572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transactionHash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"0x9fc76417374aa880d4449a1f7f31ec597f00b1f6f3dd2d66f4c9c6c445836d8b", </a:t>
            </a:r>
          </a:p>
          <a:p>
            <a:pPr marL="4572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transactionIndex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0, </a:t>
            </a:r>
          </a:p>
          <a:p>
            <a:pPr marL="4572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blockHash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"0xef95f2f1ed3ca60b048b4bf67cde2195961e0bba6f70bcbea9a2c4e133e34b46", </a:t>
            </a:r>
          </a:p>
          <a:p>
            <a:pPr marL="4572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blockNumber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3, </a:t>
            </a:r>
          </a:p>
          <a:p>
            <a:pPr marL="4572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contractAddress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"0x11f4d0A3c12e86B4b5F39B213F7E19D048276DAe", 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cumulativeGasUsed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314159, </a:t>
            </a:r>
          </a:p>
          <a:p>
            <a:pPr marL="4572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gasUsed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30234, </a:t>
            </a:r>
          </a:p>
          <a:p>
            <a:pPr marL="4572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"logs": [{ </a:t>
            </a:r>
          </a:p>
          <a:p>
            <a:pPr marL="4572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...</a:t>
            </a:r>
          </a:p>
          <a:p>
            <a:pPr marL="4572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}, ...]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SI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780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776F3-7C47-194F-8341-BFB47BDD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Transakcije in pametne pogodbe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868E4-4C86-F247-B1D8-22F1235D1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Transakcijo lahko pošljemo tudi v "prazno" (brez naslovnika)</a:t>
            </a:r>
          </a:p>
          <a:p>
            <a:r>
              <a:rPr lang="en-SI" dirty="0"/>
              <a:t>To predstavlja kreiranje pametne pogodbe</a:t>
            </a:r>
          </a:p>
          <a:p>
            <a:r>
              <a:rPr lang="en-SI" dirty="0"/>
              <a:t>Poslani podatki (payload) so EVM strojna koda.</a:t>
            </a:r>
          </a:p>
          <a:p>
            <a:r>
              <a:rPr lang="en-SI" dirty="0"/>
              <a:t>Rezultat izvedbe te kode se shrani kot koda na pogodbenem računu (koda generira kodo)</a:t>
            </a:r>
          </a:p>
          <a:p>
            <a:r>
              <a:rPr lang="en-SI" dirty="0"/>
              <a:t>S transakcijami poslanimi na naslove pogodb lahko sprožimo kodo</a:t>
            </a:r>
          </a:p>
          <a:p>
            <a:r>
              <a:rPr lang="en-SI" dirty="0"/>
              <a:t>ABI – Application Binary Interface – način zakodiranja funkcijskih klicev na pogodbe. </a:t>
            </a:r>
          </a:p>
          <a:p>
            <a:r>
              <a:rPr lang="en-SI" dirty="0"/>
              <a:t>Za klic funkcije na pogodbah zakodiramo klic (ime funkcije in parametre s tipi) za ABI in to pošljemo v polju </a:t>
            </a:r>
            <a:r>
              <a:rPr lang="en-SI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SI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923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4221-CC2C-3641-80F9-FD92ADE3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Posebnosti EVM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67A12-7AA2-5949-9008-25327C624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sz="2400" dirty="0"/>
              <a:t>EVM izvaja strojno kodo</a:t>
            </a:r>
          </a:p>
          <a:p>
            <a:r>
              <a:rPr lang="en-SI" sz="2400" dirty="0"/>
              <a:t>Vsak ukaz (opcode) ima svojo ceno (gas)</a:t>
            </a:r>
          </a:p>
          <a:p>
            <a:r>
              <a:rPr lang="en-SI" sz="2400" dirty="0"/>
              <a:t>Operira z 256-bitnimi besedami (32 bytov)</a:t>
            </a:r>
          </a:p>
          <a:p>
            <a:r>
              <a:rPr lang="en-SI" sz="2400" dirty="0"/>
              <a:t>Skladovni stroj (nima registrov)</a:t>
            </a:r>
          </a:p>
          <a:p>
            <a:r>
              <a:rPr lang="en-SI" sz="2400" dirty="0"/>
              <a:t>Tri nivoji spomina: storage, memory, stack</a:t>
            </a:r>
          </a:p>
          <a:p>
            <a:r>
              <a:rPr lang="en-SI" sz="2400" b="1" dirty="0"/>
              <a:t>storage</a:t>
            </a:r>
            <a:r>
              <a:rPr lang="en-SI" sz="2400" dirty="0"/>
              <a:t> – 256-bitne besede v bazi ključ-vrednost bločne verige, 20000 gas pisanje, 800 gas branje – daleč najdražje operacije</a:t>
            </a:r>
          </a:p>
          <a:p>
            <a:r>
              <a:rPr lang="en-SI" sz="2400" b="1" dirty="0"/>
              <a:t>memory</a:t>
            </a:r>
            <a:r>
              <a:rPr lang="en-SI" sz="2400" dirty="0"/>
              <a:t> – dinamično alociran spomin med izvajanjem kode (linearno zaporedje, v kosih po 256-bitov, cena narašča linearno,  kasneje kvadratično)</a:t>
            </a:r>
          </a:p>
          <a:p>
            <a:r>
              <a:rPr lang="en-SI" sz="2400" b="1" dirty="0"/>
              <a:t>stack</a:t>
            </a:r>
            <a:r>
              <a:rPr lang="en-SI" sz="2400" dirty="0"/>
              <a:t> – omejen sklad za vsak funkcijski klic, globine največ 1024 elementov, vsebuje 256-bitne besede, to vključuje vse lokalne spremenljivke in parametre, se ne obračunava</a:t>
            </a:r>
          </a:p>
          <a:p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320062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593C-71D6-E84A-9638-6ED9422D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Sistemske in programske kriptovalute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76FC6-7246-D24E-BB4B-20E240226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Verige s pametnimi pogodbami (npr. z EVM) vsebujejo eno sistemsko valuto, s katero plačujemo gas</a:t>
            </a:r>
          </a:p>
          <a:p>
            <a:r>
              <a:rPr lang="en-SI" dirty="0"/>
              <a:t>Sistemske valute tipično nimajo dodatnih funkcionalnosti (niso "pametne")</a:t>
            </a:r>
          </a:p>
          <a:p>
            <a:r>
              <a:rPr lang="en-SI" dirty="0"/>
              <a:t>Predloga za pametne pogodbe za programske kriptovalute je standard ERC20 (pogodba, ki jo dedujemo)</a:t>
            </a:r>
          </a:p>
          <a:p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173653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7273-7F53-A240-BBD5-CB16FEB3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I" dirty="0"/>
              <a:t>Primeri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30227-C2D2-8B4F-BA01-AFA066417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I" dirty="0"/>
              <a:t>Greeter – osnovna pogodba, ki jo dobimo ob namestitvi Hardhata</a:t>
            </a:r>
          </a:p>
          <a:p>
            <a:r>
              <a:rPr lang="en-SI" dirty="0"/>
              <a:t>Sredko  - zelo poenostavljena aplikacijska kriptovaluta</a:t>
            </a:r>
          </a:p>
          <a:p>
            <a:r>
              <a:rPr lang="en-SI" dirty="0"/>
              <a:t>Ballot – primer z glasovanjem</a:t>
            </a:r>
          </a:p>
        </p:txBody>
      </p:sp>
    </p:spTree>
    <p:extLst>
      <p:ext uri="{BB962C8B-B14F-4D97-AF65-F5344CB8AC3E}">
        <p14:creationId xmlns:p14="http://schemas.microsoft.com/office/powerpoint/2010/main" val="202404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EB439-AF63-624E-A711-7C72B289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766218"/>
            <a:ext cx="4876800" cy="1325563"/>
          </a:xfrm>
        </p:spPr>
        <p:txBody>
          <a:bodyPr/>
          <a:lstStyle/>
          <a:p>
            <a:pPr algn="ctr"/>
            <a:r>
              <a:rPr lang="en-SI" dirty="0"/>
              <a:t>Hvala za pozornost</a:t>
            </a:r>
            <a:br>
              <a:rPr lang="en-SI" dirty="0"/>
            </a:br>
            <a:r>
              <a:rPr lang="en-SI" dirty="0"/>
              <a:t>Vprašanja?</a:t>
            </a:r>
          </a:p>
        </p:txBody>
      </p:sp>
    </p:spTree>
    <p:extLst>
      <p:ext uri="{BB962C8B-B14F-4D97-AF65-F5344CB8AC3E}">
        <p14:creationId xmlns:p14="http://schemas.microsoft.com/office/powerpoint/2010/main" val="98758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4637</TotalTime>
  <Words>2021</Words>
  <Application>Microsoft Macintosh PowerPoint</Application>
  <PresentationFormat>Widescreen</PresentationFormat>
  <Paragraphs>189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Office Theme</vt:lpstr>
      <vt:lpstr>DeFi, pametne pogodbe, EVM in programski jezik Solidity</vt:lpstr>
      <vt:lpstr>Zadnji kripto balon ...</vt:lpstr>
      <vt:lpstr>Ethereum</vt:lpstr>
      <vt:lpstr>Kako deluje Ethereum?</vt:lpstr>
      <vt:lpstr>Kako deluje Ethereum?</vt:lpstr>
      <vt:lpstr>EVM, gas</vt:lpstr>
      <vt:lpstr>EVM, Solidity, pametne pogodbe</vt:lpstr>
      <vt:lpstr>Algoritmi za doseganje konsenza</vt:lpstr>
      <vt:lpstr>PoW, PoS</vt:lpstr>
      <vt:lpstr>Problemi Ethereuma</vt:lpstr>
      <vt:lpstr>Plan nadgradnje Ethereuma (2.0)</vt:lpstr>
      <vt:lpstr>DeFi</vt:lpstr>
      <vt:lpstr>Uniswap</vt:lpstr>
      <vt:lpstr>Velika bitka platform s pametnimi pogodbami</vt:lpstr>
      <vt:lpstr>Alternative za skalabilnost – L2</vt:lpstr>
      <vt:lpstr>Pristopi na L2</vt:lpstr>
      <vt:lpstr>Osnove bločnih verig</vt:lpstr>
      <vt:lpstr>Osnove bločnih verig</vt:lpstr>
      <vt:lpstr>Računi v EVM</vt:lpstr>
      <vt:lpstr>Transakcije</vt:lpstr>
      <vt:lpstr>Transakcije</vt:lpstr>
      <vt:lpstr>Transakcije - primer</vt:lpstr>
      <vt:lpstr>Potrdilo o transakciji</vt:lpstr>
      <vt:lpstr>Transakcije in pametne pogodbe</vt:lpstr>
      <vt:lpstr>Posebnosti EVM</vt:lpstr>
      <vt:lpstr>Sistemske in programske kriptovalute</vt:lpstr>
      <vt:lpstr>Primeri</vt:lpstr>
      <vt:lpstr>Hvala za pozornost Vprašanja?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Izzivi skalabilnosti bločne verige Ethereum</dc:title>
  <dc:creator>Orbanić, Alen</dc:creator>
  <cp:lastModifiedBy>Orbanić, Alen</cp:lastModifiedBy>
  <cp:revision>55</cp:revision>
  <dcterms:created xsi:type="dcterms:W3CDTF">2021-04-07T03:28:20Z</dcterms:created>
  <dcterms:modified xsi:type="dcterms:W3CDTF">2021-06-10T04:44:39Z</dcterms:modified>
</cp:coreProperties>
</file>